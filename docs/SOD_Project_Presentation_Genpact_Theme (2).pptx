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9509760" y="-1005840"/>
            <a:ext cx="4023360" cy="4023360"/>
          </a:xfrm>
          <a:prstGeom prst="arc">
            <a:avLst/>
          </a:prstGeom>
          <a:noFill/>
          <a:ln w="635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10149840" y="-548640"/>
            <a:ext cx="2926080" cy="2926080"/>
          </a:xfrm>
          <a:prstGeom prst="arc">
            <a:avLst/>
          </a:prstGeom>
          <a:noFill/>
          <a:ln w="38100">
            <a:solidFill>
              <a:srgbClr val="70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FFFFFF"/>
                </a:solidFill>
                <a:latin typeface="Aptos Display"/>
              </a:rPr>
              <a:t>GENPACT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594360"/>
            <a:ext cx="566928" cy="41148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8869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200">
                <a:solidFill>
                  <a:srgbClr val="FFFFFF"/>
                </a:solidFill>
                <a:latin typeface="Aptos Display"/>
              </a:rPr>
              <a:t>End-to-End Salient
Object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88920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D5DAE1"/>
                </a:solidFill>
                <a:latin typeface="Aptos"/>
              </a:rPr>
              <a:t>Custom CNN built from scratch for visually dominant object segmentation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657600"/>
            <a:ext cx="1417320" cy="329184"/>
          </a:xfrm>
          <a:prstGeom prst="roundRect">
            <a:avLst/>
          </a:prstGeom>
          <a:solidFill>
            <a:srgbClr val="262930"/>
          </a:solidFill>
          <a:ln>
            <a:solidFill>
              <a:srgbClr val="4B5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726180"/>
            <a:ext cx="1417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>
                <a:solidFill>
                  <a:srgbClr val="FFFFFF"/>
                </a:solidFill>
                <a:latin typeface="Aptos"/>
              </a:rPr>
              <a:t>PyTorch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40864" y="3657600"/>
            <a:ext cx="1417320" cy="329184"/>
          </a:xfrm>
          <a:prstGeom prst="roundRect">
            <a:avLst/>
          </a:prstGeom>
          <a:solidFill>
            <a:srgbClr val="262930"/>
          </a:solidFill>
          <a:ln>
            <a:solidFill>
              <a:srgbClr val="4B5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40864" y="3726180"/>
            <a:ext cx="1417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>
                <a:solidFill>
                  <a:srgbClr val="FFFFFF"/>
                </a:solidFill>
                <a:latin typeface="Aptos"/>
              </a:rPr>
              <a:t>ECSSD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68496" y="3657600"/>
            <a:ext cx="1417320" cy="329184"/>
          </a:xfrm>
          <a:prstGeom prst="roundRect">
            <a:avLst/>
          </a:prstGeom>
          <a:solidFill>
            <a:srgbClr val="262930"/>
          </a:solidFill>
          <a:ln>
            <a:solidFill>
              <a:srgbClr val="4B5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68496" y="3726180"/>
            <a:ext cx="1417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>
                <a:solidFill>
                  <a:srgbClr val="FFFFFF"/>
                </a:solidFill>
                <a:latin typeface="Aptos"/>
              </a:rPr>
              <a:t>Encoder–Decoder CNN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96128" y="3657600"/>
            <a:ext cx="1417320" cy="329184"/>
          </a:xfrm>
          <a:prstGeom prst="roundRect">
            <a:avLst/>
          </a:prstGeom>
          <a:solidFill>
            <a:srgbClr val="262930"/>
          </a:solidFill>
          <a:ln>
            <a:solidFill>
              <a:srgbClr val="4B5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96128" y="3726180"/>
            <a:ext cx="1417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>
                <a:solidFill>
                  <a:srgbClr val="FFFFFF"/>
                </a:solidFill>
                <a:latin typeface="Aptos"/>
              </a:rPr>
              <a:t>Gradio Demo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4069080"/>
            <a:ext cx="3063240" cy="1325880"/>
          </a:xfrm>
          <a:prstGeom prst="roundRect">
            <a:avLst/>
          </a:prstGeom>
          <a:solidFill>
            <a:srgbClr val="1D1F24"/>
          </a:solidFill>
          <a:ln w="12700">
            <a:solidFill>
              <a:srgbClr val="3A3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58200" y="4069080"/>
            <a:ext cx="54864" cy="132588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22792" y="4206240"/>
            <a:ext cx="2788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FFFFFF"/>
                </a:solidFill>
                <a:latin typeface="Aptos"/>
              </a:rPr>
              <a:t>Project 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22792" y="4572000"/>
            <a:ext cx="278892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5DAE1"/>
                </a:solidFill>
                <a:latin typeface="Aptos"/>
              </a:rPr>
              <a:t>A functioning model and demo that take an input image and produce a saliency mask with overlay visualization.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419088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197A3"/>
                </a:solidFill>
                <a:latin typeface="Aptos"/>
              </a:rPr>
              <a:t>End-to-End Salient Object Detection | Academic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197A3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9509760" y="-1005840"/>
            <a:ext cx="4023360" cy="4023360"/>
          </a:xfrm>
          <a:prstGeom prst="arc">
            <a:avLst/>
          </a:prstGeom>
          <a:noFill/>
          <a:ln w="635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10149840" y="-548640"/>
            <a:ext cx="2926080" cy="2926080"/>
          </a:xfrm>
          <a:prstGeom prst="arc">
            <a:avLst/>
          </a:prstGeom>
          <a:noFill/>
          <a:ln w="38100">
            <a:solidFill>
              <a:srgbClr val="70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22242A"/>
                </a:solidFill>
                <a:latin typeface="Aptos Display"/>
              </a:rPr>
              <a:t>GENPACT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594360"/>
            <a:ext cx="566928" cy="41148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19088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F646E"/>
                </a:solidFill>
                <a:latin typeface="Aptos"/>
              </a:rPr>
              <a:t>End-to-End Salient Object Detection | Academic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46E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22242A"/>
                </a:solidFill>
                <a:latin typeface="Aptos Display"/>
              </a:rPr>
              <a:t>Data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9047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0555F"/>
                </a:solidFill>
                <a:latin typeface="Aptos"/>
              </a:rPr>
              <a:t>ECSSD dataset prepared for binary saliency-mask prediction.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0392" y="2212848"/>
            <a:ext cx="384048" cy="384048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276856"/>
            <a:ext cx="38404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2148840"/>
            <a:ext cx="15727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22242A"/>
                </a:solidFill>
                <a:latin typeface="Aptos"/>
              </a:rPr>
              <a:t>Load image + mask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5786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19">
                <a:solidFill>
                  <a:srgbClr val="464B55"/>
                </a:solidFill>
                <a:latin typeface="Aptos"/>
              </a:rPr>
              <a:t>RGB image and grayscale ground-truth mask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072384" y="2505456"/>
            <a:ext cx="329184" cy="219456"/>
          </a:xfrm>
          <a:prstGeom prst="rightArrow">
            <a:avLst/>
          </a:prstGeom>
          <a:solidFill>
            <a:srgbClr val="B4B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29584" y="205740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66744" y="2212848"/>
            <a:ext cx="384048" cy="384048"/>
          </a:xfrm>
          <a:prstGeom prst="ellipse">
            <a:avLst/>
          </a:prstGeom>
          <a:solidFill>
            <a:srgbClr val="70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66744" y="2276856"/>
            <a:ext cx="38404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2148840"/>
            <a:ext cx="15727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22242A"/>
                </a:solidFill>
                <a:latin typeface="Aptos"/>
              </a:rPr>
              <a:t>Resize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94176" y="25786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19">
                <a:solidFill>
                  <a:srgbClr val="464B55"/>
                </a:solidFill>
                <a:latin typeface="Aptos"/>
              </a:rPr>
              <a:t>All samples resized to 224 × 224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888736" y="2505456"/>
            <a:ext cx="329184" cy="219456"/>
          </a:xfrm>
          <a:prstGeom prst="rightArrow">
            <a:avLst/>
          </a:prstGeom>
          <a:solidFill>
            <a:srgbClr val="B4B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45936" y="205740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3096" y="2212848"/>
            <a:ext cx="384048" cy="384048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3096" y="2276856"/>
            <a:ext cx="38404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148840"/>
            <a:ext cx="15727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22242A"/>
                </a:solidFill>
                <a:latin typeface="Aptos"/>
              </a:rPr>
              <a:t>Normalize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25786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19">
                <a:solidFill>
                  <a:srgbClr val="464B55"/>
                </a:solidFill>
                <a:latin typeface="Aptos"/>
              </a:rPr>
              <a:t>Images converted to tensor and normalized; masks remain 0–1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705088" y="2505456"/>
            <a:ext cx="329184" cy="219456"/>
          </a:xfrm>
          <a:prstGeom prst="rightArrow">
            <a:avLst/>
          </a:prstGeom>
          <a:solidFill>
            <a:srgbClr val="B4B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62288" y="205740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299448" y="2212848"/>
            <a:ext cx="384048" cy="384048"/>
          </a:xfrm>
          <a:prstGeom prst="ellipse">
            <a:avLst/>
          </a:prstGeom>
          <a:solidFill>
            <a:srgbClr val="70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99448" y="2276856"/>
            <a:ext cx="38404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2148840"/>
            <a:ext cx="15727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22242A"/>
                </a:solidFill>
                <a:latin typeface="Aptos"/>
              </a:rPr>
              <a:t>Split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25786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19">
                <a:solidFill>
                  <a:srgbClr val="464B55"/>
                </a:solidFill>
                <a:latin typeface="Aptos"/>
              </a:rPr>
              <a:t>70% Train · 15% Validation · 15% Test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" y="3886200"/>
            <a:ext cx="3566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13232" y="3886200"/>
            <a:ext cx="54864" cy="123444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7824" y="402336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22242A"/>
                </a:solidFill>
                <a:latin typeface="Aptos"/>
              </a:rPr>
              <a:t>Augmentation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" y="43891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64B55"/>
                </a:solidFill>
                <a:latin typeface="Aptos"/>
              </a:rPr>
              <a:t>Horizontal flip, random crop, brightness variation, and contrast variation are applied to training images only.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26280" y="3886200"/>
            <a:ext cx="3566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26280" y="3886200"/>
            <a:ext cx="54864" cy="1234440"/>
          </a:xfrm>
          <a:prstGeom prst="rect">
            <a:avLst/>
          </a:prstGeom>
          <a:solidFill>
            <a:srgbClr val="70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90872" y="402336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22242A"/>
                </a:solidFill>
                <a:latin typeface="Aptos"/>
              </a:rPr>
              <a:t>Why it matters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90872" y="43891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64B55"/>
                </a:solidFill>
                <a:latin typeface="Aptos"/>
              </a:rPr>
              <a:t>Augmentation helps the model generalize to object position, crop, and lighting changes instead of memorizing the dataset.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39327" y="3886200"/>
            <a:ext cx="3154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339327" y="3886200"/>
            <a:ext cx="54864" cy="1234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03919" y="4023360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22242A"/>
                </a:solidFill>
                <a:latin typeface="Aptos"/>
              </a:rPr>
              <a:t>Data split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19" y="4389120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64B55"/>
                </a:solidFill>
                <a:latin typeface="Aptos"/>
              </a:rPr>
              <a:t>Train: 700 | Validation: 150 | Test: 150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9509760" y="-1005840"/>
            <a:ext cx="4023360" cy="4023360"/>
          </a:xfrm>
          <a:prstGeom prst="arc">
            <a:avLst/>
          </a:prstGeom>
          <a:noFill/>
          <a:ln w="635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10149840" y="-548640"/>
            <a:ext cx="2926080" cy="2926080"/>
          </a:xfrm>
          <a:prstGeom prst="arc">
            <a:avLst/>
          </a:prstGeom>
          <a:noFill/>
          <a:ln w="38100">
            <a:solidFill>
              <a:srgbClr val="70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FFFFFF"/>
                </a:solidFill>
                <a:latin typeface="Aptos Display"/>
              </a:rPr>
              <a:t>GENPACT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594360"/>
            <a:ext cx="566928" cy="41148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19088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197A3"/>
                </a:solidFill>
                <a:latin typeface="Aptos"/>
              </a:rPr>
              <a:t>End-to-End Salient Object Detection | Academic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197A3"/>
                </a:solidFill>
                <a:latin typeface="Apto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FFFFFF"/>
                </a:solidFill>
                <a:latin typeface="Aptos Display"/>
              </a:rPr>
              <a:t>Model Architecture &amp;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9047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D5DAE1"/>
                </a:solidFill>
                <a:latin typeface="Aptos"/>
              </a:rPr>
              <a:t>Custom encoder-decoder CNN trained from scratch without pre-trained weights.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057400"/>
            <a:ext cx="2377440" cy="1188720"/>
          </a:xfrm>
          <a:prstGeom prst="roundRect">
            <a:avLst/>
          </a:prstGeom>
          <a:solidFill>
            <a:srgbClr val="1D1F24"/>
          </a:solidFill>
          <a:ln w="12700">
            <a:solidFill>
              <a:srgbClr val="3A3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057400"/>
            <a:ext cx="54864" cy="118872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19456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FFFFFF"/>
                </a:solidFill>
                <a:latin typeface="Aptos"/>
              </a:rPr>
              <a:t>Encoder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56032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5DAE1"/>
                </a:solidFill>
                <a:latin typeface="Aptos"/>
              </a:rPr>
              <a:t>4 Conv blocks
Conv2D + BatchNorm + ReLU
MaxPooling for downsampling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2057400"/>
            <a:ext cx="2377440" cy="1188720"/>
          </a:xfrm>
          <a:prstGeom prst="roundRect">
            <a:avLst/>
          </a:prstGeom>
          <a:solidFill>
            <a:srgbClr val="1D1F24"/>
          </a:solidFill>
          <a:ln w="12700">
            <a:solidFill>
              <a:srgbClr val="3A3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2057400"/>
            <a:ext cx="54864" cy="1188720"/>
          </a:xfrm>
          <a:prstGeom prst="rect">
            <a:avLst/>
          </a:prstGeom>
          <a:solidFill>
            <a:srgbClr val="70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432" y="219456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FFFFFF"/>
                </a:solidFill>
                <a:latin typeface="Aptos"/>
              </a:rPr>
              <a:t>Bottleneck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256032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5DAE1"/>
                </a:solidFill>
                <a:latin typeface="Aptos"/>
              </a:rPr>
              <a:t>512-channel deep representation
Dropout2d(0.3) for regularization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2057400"/>
            <a:ext cx="2377440" cy="1188720"/>
          </a:xfrm>
          <a:prstGeom prst="roundRect">
            <a:avLst/>
          </a:prstGeom>
          <a:solidFill>
            <a:srgbClr val="1D1F24"/>
          </a:solidFill>
          <a:ln w="12700">
            <a:solidFill>
              <a:srgbClr val="3A3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52160" y="2057400"/>
            <a:ext cx="54864" cy="1188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16752" y="219456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FFFFFF"/>
                </a:solidFill>
                <a:latin typeface="Aptos"/>
              </a:rPr>
              <a:t>Decoder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6752" y="256032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5DAE1"/>
                </a:solidFill>
                <a:latin typeface="Aptos"/>
              </a:rPr>
              <a:t>4 ConvTranspose2D blocks
Upsampling + skip connections
Reconstructs spatial mask detail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2057400"/>
            <a:ext cx="2377440" cy="1188720"/>
          </a:xfrm>
          <a:prstGeom prst="roundRect">
            <a:avLst/>
          </a:prstGeom>
          <a:solidFill>
            <a:srgbClr val="1D1F24"/>
          </a:solidFill>
          <a:ln w="12700">
            <a:solidFill>
              <a:srgbClr val="3A3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12480" y="2057400"/>
            <a:ext cx="54864" cy="1188720"/>
          </a:xfrm>
          <a:prstGeom prst="rect">
            <a:avLst/>
          </a:prstGeom>
          <a:solidFill>
            <a:srgbClr val="49C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77072" y="219456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FFFFFF"/>
                </a:solidFill>
                <a:latin typeface="Aptos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7072" y="256032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5DAE1"/>
                </a:solidFill>
                <a:latin typeface="Aptos"/>
              </a:rPr>
              <a:t>1-channel mask
Sigmoid activation
Same 224 × 224 dimensions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090672" y="2505456"/>
            <a:ext cx="201168" cy="201168"/>
          </a:xfrm>
          <a:prstGeom prst="rightArrow">
            <a:avLst/>
          </a:prstGeom>
          <a:solidFill>
            <a:srgbClr val="788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5650992" y="2505456"/>
            <a:ext cx="201168" cy="201168"/>
          </a:xfrm>
          <a:prstGeom prst="rightArrow">
            <a:avLst/>
          </a:prstGeom>
          <a:solidFill>
            <a:srgbClr val="788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8211312" y="2505456"/>
            <a:ext cx="201168" cy="201168"/>
          </a:xfrm>
          <a:prstGeom prst="rightArrow">
            <a:avLst/>
          </a:prstGeom>
          <a:solidFill>
            <a:srgbClr val="788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" y="3977639"/>
            <a:ext cx="4892040" cy="1417320"/>
          </a:xfrm>
          <a:prstGeom prst="roundRect">
            <a:avLst/>
          </a:prstGeom>
          <a:solidFill>
            <a:srgbClr val="1D1F24"/>
          </a:solidFill>
          <a:ln w="12700">
            <a:solidFill>
              <a:srgbClr val="3A3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3977639"/>
            <a:ext cx="54864" cy="141732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4114800"/>
            <a:ext cx="4617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FFFFFF"/>
                </a:solidFill>
                <a:latin typeface="Aptos"/>
              </a:rPr>
              <a:t>Training configuration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4480559"/>
            <a:ext cx="4617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5DAE1"/>
                </a:solidFill>
                <a:latin typeface="Aptos"/>
              </a:rPr>
              <a:t>Loss = Binary Cross-Entropy + 0.5 × (1 − IoU)
Optimizer = Adam
Final training used a lower learning rate for stability
Early stopping monitors validation loss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97880" y="3977639"/>
            <a:ext cx="4892040" cy="1417320"/>
          </a:xfrm>
          <a:prstGeom prst="roundRect">
            <a:avLst/>
          </a:prstGeom>
          <a:solidFill>
            <a:srgbClr val="1D1F24"/>
          </a:solidFill>
          <a:ln w="12700">
            <a:solidFill>
              <a:srgbClr val="3A3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97880" y="3977639"/>
            <a:ext cx="54864" cy="1417320"/>
          </a:xfrm>
          <a:prstGeom prst="rect">
            <a:avLst/>
          </a:prstGeom>
          <a:solidFill>
            <a:srgbClr val="70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62472" y="4114800"/>
            <a:ext cx="4617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FFFFFF"/>
                </a:solidFill>
                <a:latin typeface="Aptos"/>
              </a:rPr>
              <a:t>Checkpointing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62472" y="4480559"/>
            <a:ext cx="4617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5DAE1"/>
                </a:solidFill>
                <a:latin typeface="Aptos"/>
              </a:rPr>
              <a:t>Best model saved as checkpoints/best_model.pth
Checkpoint stores model weights, optimizer state, epoch, and validation loss
Supports reliable training continuation logic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9509760" y="-1005840"/>
            <a:ext cx="4023360" cy="4023360"/>
          </a:xfrm>
          <a:prstGeom prst="arc">
            <a:avLst/>
          </a:prstGeom>
          <a:noFill/>
          <a:ln w="635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10149840" y="-548640"/>
            <a:ext cx="2926080" cy="2926080"/>
          </a:xfrm>
          <a:prstGeom prst="arc">
            <a:avLst/>
          </a:prstGeom>
          <a:noFill/>
          <a:ln w="38100">
            <a:solidFill>
              <a:srgbClr val="70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22242A"/>
                </a:solidFill>
                <a:latin typeface="Aptos Display"/>
              </a:rPr>
              <a:t>GENPACT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594360"/>
            <a:ext cx="566928" cy="41148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19088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F646E"/>
                </a:solidFill>
                <a:latin typeface="Aptos"/>
              </a:rPr>
              <a:t>End-to-End Salient Object Detection | Academic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46E"/>
                </a:solidFill>
                <a:latin typeface="Apto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22242A"/>
                </a:solidFill>
                <a:latin typeface="Aptos Display"/>
              </a:rPr>
              <a:t>Evaluation Results &amp; Visual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9047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0555F"/>
                </a:solidFill>
                <a:latin typeface="Aptos"/>
              </a:rPr>
              <a:t>The best checkpoint was evaluated on the held-out ECSSD test set.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74519"/>
            <a:ext cx="16002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993391"/>
            <a:ext cx="138074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000">
                <a:solidFill>
                  <a:srgbClr val="FF6900"/>
                </a:solidFill>
                <a:latin typeface="Aptos Display"/>
              </a:rPr>
              <a:t>0.5837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377439"/>
            <a:ext cx="138074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>
                <a:solidFill>
                  <a:srgbClr val="50555F"/>
                </a:solidFill>
                <a:latin typeface="Aptos"/>
              </a:rPr>
              <a:t>IoU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32887" y="1874519"/>
            <a:ext cx="16002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42615" y="1993391"/>
            <a:ext cx="138074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000">
                <a:solidFill>
                  <a:srgbClr val="7044FF"/>
                </a:solidFill>
                <a:latin typeface="Aptos Display"/>
              </a:rPr>
              <a:t>0.7040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42615" y="2377439"/>
            <a:ext cx="138074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>
                <a:solidFill>
                  <a:srgbClr val="50555F"/>
                </a:solidFill>
                <a:latin typeface="Aptos"/>
              </a:rPr>
              <a:t>Precision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7407" y="1874519"/>
            <a:ext cx="16002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7136" y="1993391"/>
            <a:ext cx="138074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000">
                <a:solidFill>
                  <a:srgbClr val="58A6FF"/>
                </a:solidFill>
                <a:latin typeface="Aptos Display"/>
              </a:rPr>
              <a:t>0.8038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2377439"/>
            <a:ext cx="138074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>
                <a:solidFill>
                  <a:srgbClr val="50555F"/>
                </a:solidFill>
                <a:latin typeface="Aptos"/>
              </a:rPr>
              <a:t>Recall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2834639"/>
            <a:ext cx="16002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2953511"/>
            <a:ext cx="138074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000">
                <a:solidFill>
                  <a:srgbClr val="49C580"/>
                </a:solidFill>
                <a:latin typeface="Aptos Display"/>
              </a:rPr>
              <a:t>0.7121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3337559"/>
            <a:ext cx="138074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>
                <a:solidFill>
                  <a:srgbClr val="50555F"/>
                </a:solidFill>
                <a:latin typeface="Aptos"/>
              </a:rPr>
              <a:t>F1-Score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32887" y="2834639"/>
            <a:ext cx="16002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42615" y="2953511"/>
            <a:ext cx="138074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000">
                <a:solidFill>
                  <a:srgbClr val="D25050"/>
                </a:solidFill>
                <a:latin typeface="Aptos Display"/>
              </a:rPr>
              <a:t>0.1957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42615" y="3337559"/>
            <a:ext cx="138074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>
                <a:solidFill>
                  <a:srgbClr val="50555F"/>
                </a:solidFill>
                <a:latin typeface="Aptos"/>
              </a:rPr>
              <a:t>MAE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07407" y="2834639"/>
            <a:ext cx="16002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17136" y="2953511"/>
            <a:ext cx="138074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000">
                <a:solidFill>
                  <a:srgbClr val="FF6900"/>
                </a:solidFill>
                <a:latin typeface="Aptos Display"/>
              </a:rPr>
              <a:t>4.73 ms/image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17136" y="3337559"/>
            <a:ext cx="138074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>
                <a:solidFill>
                  <a:srgbClr val="50555F"/>
                </a:solidFill>
                <a:latin typeface="Aptos"/>
              </a:rPr>
              <a:t>Avg. inference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1536192"/>
            <a:ext cx="516636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sod_visualization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673352"/>
            <a:ext cx="4892040" cy="371246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537960" y="5486400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50555F"/>
                </a:solidFill>
                <a:latin typeface="Aptos"/>
              </a:rPr>
              <a:t>Input image · Ground truth · Predicted mask · Overlay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069080"/>
            <a:ext cx="53949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4069080"/>
            <a:ext cx="54864" cy="1234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420624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22242A"/>
                </a:solidFill>
                <a:latin typeface="Aptos"/>
              </a:rPr>
              <a:t>Interpretation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" y="45720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64B55"/>
                </a:solidFill>
                <a:latin typeface="Aptos"/>
              </a:rPr>
              <a:t>The model achieves strong recall, meaning it detects most salient regions. IoU and MAE show there is still room to improve boundary sharpness and reduce background noise.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9509760" y="-1005840"/>
            <a:ext cx="4023360" cy="4023360"/>
          </a:xfrm>
          <a:prstGeom prst="arc">
            <a:avLst/>
          </a:prstGeom>
          <a:noFill/>
          <a:ln w="635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10149840" y="-548640"/>
            <a:ext cx="2926080" cy="2926080"/>
          </a:xfrm>
          <a:prstGeom prst="arc">
            <a:avLst/>
          </a:prstGeom>
          <a:noFill/>
          <a:ln w="38100">
            <a:solidFill>
              <a:srgbClr val="70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FFFFFF"/>
                </a:solidFill>
                <a:latin typeface="Aptos Display"/>
              </a:rPr>
              <a:t>GENPACT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594360"/>
            <a:ext cx="566928" cy="41148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19088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197A3"/>
                </a:solidFill>
                <a:latin typeface="Aptos"/>
              </a:rPr>
              <a:t>End-to-End Salient Object Detection | Academic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197A3"/>
                </a:solidFill>
                <a:latin typeface="Apto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FFFFFF"/>
                </a:solidFill>
                <a:latin typeface="Aptos Display"/>
              </a:rPr>
              <a:t>Demo App &amp; Final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9047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D5DAE1"/>
                </a:solidFill>
                <a:latin typeface="Aptos"/>
              </a:rPr>
              <a:t>The project is packaged as a working SOD pipeline with an interactive demo.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74519"/>
            <a:ext cx="3291840" cy="1143000"/>
          </a:xfrm>
          <a:prstGeom prst="roundRect">
            <a:avLst/>
          </a:prstGeom>
          <a:solidFill>
            <a:srgbClr val="1D1F24"/>
          </a:solidFill>
          <a:ln w="12700">
            <a:solidFill>
              <a:srgbClr val="3A3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874519"/>
            <a:ext cx="54864" cy="11430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011679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FFFFFF"/>
                </a:solidFill>
                <a:latin typeface="Aptos"/>
              </a:rPr>
              <a:t>Demo 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37743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5DAE1"/>
                </a:solidFill>
                <a:latin typeface="Aptos"/>
              </a:rPr>
              <a:t>Gradio app accepts a user-uploaded image, preprocesses it to 224 × 224, runs inference, and returns the saliency output.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874519"/>
            <a:ext cx="3291840" cy="1143000"/>
          </a:xfrm>
          <a:prstGeom prst="roundRect">
            <a:avLst/>
          </a:prstGeom>
          <a:solidFill>
            <a:srgbClr val="1D1F24"/>
          </a:solidFill>
          <a:ln w="12700">
            <a:solidFill>
              <a:srgbClr val="3A3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1874519"/>
            <a:ext cx="54864" cy="1143000"/>
          </a:xfrm>
          <a:prstGeom prst="rect">
            <a:avLst/>
          </a:prstGeom>
          <a:solidFill>
            <a:srgbClr val="70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9431" y="2011679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FFFFFF"/>
                </a:solidFill>
                <a:latin typeface="Aptos"/>
              </a:rPr>
              <a:t>Displayed outputs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1" y="237743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5DAE1"/>
                </a:solidFill>
                <a:latin typeface="Aptos"/>
              </a:rPr>
              <a:t>The app returns the predicted saliency mask, overlay visualization, and inference time for each image.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874519"/>
            <a:ext cx="3017520" cy="1143000"/>
          </a:xfrm>
          <a:prstGeom prst="roundRect">
            <a:avLst/>
          </a:prstGeom>
          <a:solidFill>
            <a:srgbClr val="1D1F24"/>
          </a:solidFill>
          <a:ln w="12700">
            <a:solidFill>
              <a:srgbClr val="3A3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874519"/>
            <a:ext cx="54864" cy="1143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2011679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FFFFFF"/>
                </a:solidFill>
                <a:latin typeface="Aptos"/>
              </a:rPr>
              <a:t>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37743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5DAE1"/>
                </a:solidFill>
                <a:latin typeface="Aptos"/>
              </a:rPr>
              <a:t>Python 3.9+ · PyTorch · OpenCV · NumPy · Matplotlib · scikit-learn · tqdm · Gradio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749039"/>
            <a:ext cx="10424160" cy="1417320"/>
          </a:xfrm>
          <a:prstGeom prst="roundRect">
            <a:avLst/>
          </a:prstGeom>
          <a:solidFill>
            <a:srgbClr val="1D1F24"/>
          </a:solidFill>
          <a:ln>
            <a:solidFill>
              <a:srgbClr val="3A3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950208"/>
            <a:ext cx="9875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D5DAE1"/>
                </a:solidFill>
                <a:latin typeface="Aptos"/>
              </a:defRPr>
            </a:pPr>
            <a:r>
              <a:t>• Complete SOD workflow implemented from data loading to demo deployment.</a:t>
            </a:r>
          </a:p>
          <a:p>
            <a:pPr>
              <a:spcAft>
                <a:spcPts val="400"/>
              </a:spcAft>
              <a:defRPr sz="1300">
                <a:solidFill>
                  <a:srgbClr val="D5DAE1"/>
                </a:solidFill>
                <a:latin typeface="Aptos"/>
              </a:defRPr>
            </a:pPr>
            <a:r>
              <a:t>• Custom CNN architecture trained without pre-trained weights.</a:t>
            </a:r>
          </a:p>
          <a:p>
            <a:pPr>
              <a:spcAft>
                <a:spcPts val="400"/>
              </a:spcAft>
              <a:defRPr sz="1300">
                <a:solidFill>
                  <a:srgbClr val="D5DAE1"/>
                </a:solidFill>
                <a:latin typeface="Aptos"/>
              </a:defRPr>
            </a:pPr>
            <a:r>
              <a:t>• Evaluation combines quantitative metrics with visual inspection.</a:t>
            </a:r>
          </a:p>
          <a:p>
            <a:pPr>
              <a:spcAft>
                <a:spcPts val="400"/>
              </a:spcAft>
              <a:defRPr sz="1300">
                <a:solidFill>
                  <a:srgbClr val="D5DAE1"/>
                </a:solidFill>
                <a:latin typeface="Aptos"/>
              </a:defRPr>
            </a:pPr>
            <a:r>
              <a:t>• Future work: train longer, tune thresholds, add stronger decoder/attention modules, and compare against a true baseline run.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50992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Built as a practical computer vision project aligned with data, AI, and advanced technology 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